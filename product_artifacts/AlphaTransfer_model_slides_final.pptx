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41c40770164104" /><Relationship Type="http://schemas.openxmlformats.org/officeDocument/2006/relationships/extended-properties" Target="/docProps/app.xml" Id="R383c84acf8fe4b6d" /><Relationship Type="http://schemas.openxmlformats.org/officeDocument/2006/relationships/officeDocument" Target="/ppt/presentation.xml" Id="R6fb2832622b049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d933bc5c94d41"/>
  </p:sldMasterIdLst>
  <p:notesMasterIdLst>
    <p:notesMasterId xmlns:r="http://schemas.openxmlformats.org/officeDocument/2006/relationships" r:id="R1b091c6689ba45ac"/>
  </p:notesMasterIdLst>
  <p:sldIdLst>
    <p:sldId xmlns:r="http://schemas.openxmlformats.org/officeDocument/2006/relationships" id="256" r:id="R1fcce2b2b63c4c51"/>
    <p:sldId xmlns:r="http://schemas.openxmlformats.org/officeDocument/2006/relationships" id="257" r:id="R67123c8d774b417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8815eb48f8448e" /><Relationship Type="http://schemas.openxmlformats.org/officeDocument/2006/relationships/slideMaster" Target="/ppt/slideMasters/slideMaster1.xml" Id="R25dd933bc5c94d41" /><Relationship Type="http://schemas.openxmlformats.org/officeDocument/2006/relationships/notesMaster" Target="/ppt/notesMasters/notesMaster1.xml" Id="R1b091c6689ba45ac" /><Relationship Type="http://schemas.openxmlformats.org/officeDocument/2006/relationships/presProps" Target="/ppt/presProps.xml" Id="R077d5588b4b3478d" /><Relationship Type="http://schemas.openxmlformats.org/officeDocument/2006/relationships/tableStyles" Target="/ppt/tableStyles.xml" Id="R745d814b75684922" /><Relationship Type="http://schemas.openxmlformats.org/officeDocument/2006/relationships/slide" Target="/ppt/slides/slide1.xml" Id="R1fcce2b2b63c4c51" /><Relationship Type="http://schemas.openxmlformats.org/officeDocument/2006/relationships/slide" Target="/ppt/slides/slide2.xml" Id="R67123c8d774b41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1358c3a47748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84fa34b51144d3" /><Relationship Type="http://schemas.openxmlformats.org/officeDocument/2006/relationships/notesMaster" Target="/ppt/notesMasters/notesMaster1.xml" Id="Ra6d68b4d97a749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debb093d81423a" /><Relationship Type="http://schemas.openxmlformats.org/officeDocument/2006/relationships/notesMaster" Target="/ppt/notesMasters/notesMaster1.xml" Id="Rea35c980971544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чисел: docs/assets/model-metrics/metrics_snapshot.csv и README.md. Показатели рассчитаны на rolling OOT 2024–2026. H3 и H5 имеют разные целевые события и разные base hit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признаков и ограничения доступности описаны в docs/MODEL_METRICS.md. Клиентская формулировка строится из проверяемых наблюдений, а не из предположений о внутренней причине прогноза TabM.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717300fdd45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bf20d1fb0e466a" /><Relationship Type="http://schemas.openxmlformats.org/officeDocument/2006/relationships/slideLayout" Target="/ppt/slideLayouts/slideLayout1.xml" Id="R5b0a26979582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0a26979582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ccc30d595467e" /><Relationship Type="http://schemas.openxmlformats.org/officeDocument/2006/relationships/notesSlide" Target="/ppt/notesSlides/notesSlide1.xml" Id="Rf6cf5f875a54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9fe8644fd48cf" /><Relationship Type="http://schemas.openxmlformats.org/officeDocument/2006/relationships/notesSlide" Target="/ppt/notesSlides/notesSlide2.xml" Id="R44eacf6f757c46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367DBB3-737E-4E7E-A46E-7838A8D5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9DF7B-C68E-4065-833F-74BBE21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9950" y="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63DB0-E521-4325-8B87-04FD12A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МОДЕЛЬНЫЕ БЕНЧМАРКИ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7E2BC-B944-4C55-9974-38E1A955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38175"/>
            <a:ext cx="1394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Два горизонта, два режима сигнала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1E35F-E9FD-4565-B4B3-A207BECC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200150"/>
            <a:ext cx="1394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Rolling OOT 2024–2026 · KZT · ежегодное переобучение только на доступной истории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88D9D-BB08-4E38-ABFC-E6E8A28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752600"/>
            <a:ext cx="6800850" cy="3105150"/>
          </a:xfrm>
          <a:prstGeom xmlns:a="http://schemas.openxmlformats.org/drawingml/2006/main" prst="roundRect">
            <a:avLst>
              <a:gd name="adj" fmla="val 5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6106B-604E-4966-9DEF-6A62AD9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952625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H3 · 3 СЕССИИ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5F871-79B6-4F23-8131-6A04B820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3145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Регулярный сигнал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08868-75D7-4AF7-960E-443F4350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667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Для пользователей, которые переводят реже и могут выбирать момент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D4407-1971-4EAE-8157-3752F2F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10515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1,504×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487AA-BEAC-4D9D-B933-7C428FAF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51472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lift к случайному дню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2ED65-A0B9-4915-AAC1-D5B98813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105150"/>
            <a:ext cx="1571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49,0%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17FC5-6F24-47AF-8058-70A5B16C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5147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hit rate · base 32,9%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63467-79A8-427A-9A8B-0DFE6C93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310515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+54,2 б.п.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FACCF-7B49-4BD0-B0DD-05FBE419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351472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выгода момента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EE8EF-5463-4534-8656-7830B938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876675"/>
            <a:ext cx="1571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85,9%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917E0-9508-4E51-A417-2940D49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86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недель с 1–2 сигналами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79EF6-8501-4A8D-A836-AE1F1575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38766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1,12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902A3-2778-4F34-9CCC-711911C4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42862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сигнала в неделю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22239-EC93-4B95-922D-91E6862D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3876675"/>
            <a:ext cx="1000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0,765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D556D-0E79-44A8-B80E-7545BD7E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286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ROC AUC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FDE0D4-2AF4-4699-BA54-7150590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3876675"/>
            <a:ext cx="1000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0,178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F08AC9-F992-43B5-9ADC-D7162706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4286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Brier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80397-81B1-45D7-803A-9873C104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438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УСТОЙЧИВОСТЬ ПО ГОДАМ · LIFT / ВЫГОДА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0731FB-961C-403E-AA1E-91FD9D62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648200"/>
            <a:ext cx="1924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D073F-C910-463B-9CF0-409819E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7244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A6A8C-A5EA-4A5A-BB59-BB8EA302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7148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1,609×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28F9A7-2428-4022-82A4-8EC86D1B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895850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+57,5 б.п.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3C2D28-B1FB-4D72-AEC6-BE1F6399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4648200"/>
            <a:ext cx="1924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1E10D-1553-4A8D-9D78-A4EFD063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47244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2025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4EBED4-C34C-43E0-B75B-1B29434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47148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1,452×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6D26ED-3EE6-4E9D-85DE-4373B6DA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4895850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+40,3 б.п.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6D2698-985C-424A-8F96-CE9A566F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4648200"/>
            <a:ext cx="1924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67C781-7581-4BF7-BBBD-D1AEDDA7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47244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C6F191-2084-4063-87A8-8B785A9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47148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1,441×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B7AC46-725D-4E5F-A6C5-4567849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4895850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+73,8 б.п.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87D50-3674-4B23-AAF8-CA4A7A9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1752600"/>
            <a:ext cx="6800850" cy="3105150"/>
          </a:xfrm>
          <a:prstGeom xmlns:a="http://schemas.openxmlformats.org/drawingml/2006/main" prst="roundRect">
            <a:avLst>
              <a:gd name="adj" fmla="val 5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C0617E-D2AB-40B9-8733-21BE725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1952625"/>
            <a:ext cx="1009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H5 · 5 СЕССИЙ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54655-7096-4D76-84F6-2E030E71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3145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Редкий, более избирательный сигнал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111406-1BFB-4FF2-ADEB-0A5C8C33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667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Для пользователей, которым нужно меньше уведомлений и более длинное окно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F97425-0458-40A1-807B-EDBDE0F0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10515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1,986×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7FC9EC-8F00-4EEE-AD94-EBD04D5A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51472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lift к случайному дню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8B3A9B-759C-4034-8ED1-F0D353D0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105150"/>
            <a:ext cx="1571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52,8%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419F79-DD57-47D3-8871-616DA1E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514725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hit rate · base 26,5%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2274C6-18EA-4C2F-A0D3-1C900878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6325" y="310515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+95,6 б.п.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64242D-DEA5-4250-B19B-6DAF897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6325" y="351472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выгода момента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46F34D-EA7A-4FC0-A127-91E04ED2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876675"/>
            <a:ext cx="1571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56,3%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092B11-FC0F-4CEB-B15A-BC91CCDA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286250"/>
            <a:ext cx="157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недель с 1–2 сигналами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92C463-891D-4C6A-B0A4-8D6CAF5B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38766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0,66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0C1F03-87EA-4FAF-B512-2CB3C491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42862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сигнала в неделю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48418F-E294-49FF-9523-23ECEF6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3876675"/>
            <a:ext cx="1000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0,737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5C431E-091A-459E-8A87-7F08231E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6700" y="4286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ROC AUC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8F125F-B067-42ED-B497-BF138B5E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50" y="3876675"/>
            <a:ext cx="1000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0,170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690B59-EFBC-4FE1-9DC6-58C4CA4E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50" y="4286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Brier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D52E49-BCC0-4658-BF6E-410EDC60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4386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УСТОЙЧИВОСТЬ ПО ГОДАМ · LIFT / ВЫГОДА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77B7BF-EEB8-4D35-A2FE-B5F5F8C7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648200"/>
            <a:ext cx="1924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CEA6C2-5F0C-447A-9680-E3E269E5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47244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2024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3E6206-8FFC-44F5-BD83-68148D7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7148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2,063×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2F2E30-C26A-4218-B126-FB2AA0EB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895850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+96,6 б.п.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D874A1-42EA-436F-8C7C-F06D0222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4648200"/>
            <a:ext cx="1924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C8815C-FAC9-41F4-83C6-74F0A01B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47244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2025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9BD10C-AE7D-4B0B-89B3-326D24C7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47148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2,241×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E768A5-F777-443C-B3AF-6D67465E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20400" y="4895850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+74,8 б.п.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A45BB1-D25D-4A30-B9A0-C289B80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4648200"/>
            <a:ext cx="19240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DABCC0-8950-4166-8259-6ECB420B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950" y="472440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C7F88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57FF82-A6AF-41C9-9661-E051C9C1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200" y="4714875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1,711×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967EF69-36E1-44BE-9DA9-CA023263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200" y="4895850"/>
            <a:ext cx="809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6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+125,7 б.п.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70ABCE-C179-40ED-BD4A-7D02248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267325"/>
            <a:ext cx="139446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85EBB6-00BD-4E56-BED7-64916452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495925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CLOSING H3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1A2699-450A-40FD-848B-74C3C89E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8674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Уточняет сообщение: «окно может закрыться»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2EE66F2-7F20-4A02-8C41-2D7A86BB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62293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Дополнительный слой усиливает часть сигналов H3 и не создаёт новых уведомлений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363DE1-6ADD-460E-A786-D29DCE81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577215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61 из 151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C94815-9E0D-456F-AD4A-514E521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61817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усиленный H3-сигнал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EF53CDE-6DC7-49C1-99BF-19ECBC90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5772150"/>
            <a:ext cx="1666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67,2%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A3F039-3F3F-4C7A-B20B-6F826B1A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618172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hit rate · base 49,8%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1C3054-7DAD-4A3B-8B0D-833ACC71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5772150"/>
            <a:ext cx="1285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1,351×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E783EF-0822-4074-90C1-DD5B9EF1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618172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lift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5DC44D-CEA3-4635-BF1A-E2C9045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5772150"/>
            <a:ext cx="190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+87,1 б.п.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E6EAA60-DFC4-4FE0-A325-2A24576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61817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изменение к концу окна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D5A285-5D6C-4E15-BAC8-AD2120E0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662940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F96F488-69C3-4399-B173-2E99EB4F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6781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Brier 0,227 · ROC AUC 0,676 · дополнительных контактов 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59DA00E-F76D-4223-9F31-3D2FF447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695325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Показатели относятся к rolling OOT. Финальный refit ещё не имеет будущего confirmatory-теста.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513B456-0AE6-4715-ADAD-BDA2F1A4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058150"/>
            <a:ext cx="1394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312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C33A07-91D7-4EDE-AD23-BB48BB9C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0" y="801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F85D3C3-1309-4490-918F-A4F91D7B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191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AlphaTransfer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3C9847-C65C-4C99-AB77-2AD0BA2C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0" y="81915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895212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9AB3FE-E764-4FE0-8E5C-1BA765F6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524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974F7-942B-449D-8ADF-6BD84EC3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9950" y="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74FCB-8E94-47C9-A4CC-337C7FB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СИГНАЛЬНЫЙ СЛОЙ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0C991-36FC-4E28-8EE0-9D073146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38175"/>
            <a:ext cx="1394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171717"/>
                </a:solidFill>
                <a:latin typeface="Inter"/>
                <a:ea typeface="Inter"/>
                <a:cs typeface="Inter"/>
              </a:rPr>
              <a:t>Триггеры, которые учитывает 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02B5F-21AF-4B43-A956-6F3C3B5F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200150"/>
            <a:ext cx="1394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Пять источников дают 33 измеримых признака. Каждый признак известен к моменту принятия решения.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AE38F-14EF-4AA3-9C7D-A1BC90B7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885950"/>
            <a:ext cx="2647950" cy="289560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8D260-5C18-454A-AD83-F51DD724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076450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974C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3974C9"/>
                </a:solidFill>
                <a:latin typeface="Inter"/>
                <a:ea typeface="Inter"/>
                <a:cs typeface="Inter"/>
              </a:rPr>
              <a:t>ЦБ РФ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AAF15-FA41-4264-AA53-106DAEC6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4765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RUB/KZT у локального минимума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DF325-3943-40EB-98DA-5FD076E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12420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Модель оценивает положение курса за месяц, квартал, полгода и год, а также изменения за 1–60 сессий.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54ECE-DFEC-4D08-B973-BF6AA9C6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15290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3D0F5-A790-4FA3-A3B4-4F90A7E8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3243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974C9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3974C9"/>
                </a:solidFill>
                <a:latin typeface="Inter"/>
                <a:ea typeface="Inter"/>
                <a:cs typeface="Inter"/>
              </a:rPr>
              <a:t>ret 1/3/5/10/20/60 · percentile 20/60/120/252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FBC2D-ADF2-4BBB-9220-4345C1E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1885950"/>
            <a:ext cx="2647950" cy="289560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21A4D-5164-4E65-8808-BF177DFA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076450"/>
            <a:ext cx="647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MOEX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65DA7-5FD5-4697-B4F1-26A3BCB6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4765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CNY/RUB меняется после фиксинга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9DA1F-1B21-4A0B-AFA7-D20F06FF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12420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Цена закрытия CNY/RUB сравнивается с фиксингом той же сессии. Расхождение отражает более свежее движение рубля.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B0FDB-7711-4DD0-9031-14F6F00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15290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9FF50-D53B-4379-AB24-0DFE1FAC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3243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CNY/RUB close − fixing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8A484-7055-4EA7-8F32-0236F527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885950"/>
            <a:ext cx="2647950" cy="289560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993FD-7E0F-4D41-832B-8C7EFE1B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0764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F0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7A12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C67A12"/>
                </a:solidFill>
                <a:latin typeface="Inter"/>
                <a:ea typeface="Inter"/>
                <a:cs typeface="Inter"/>
              </a:rPr>
              <a:t>OXR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0B84E-66EC-4F54-97CE-22F1E7DC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4765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Внешний RUB/KZT расходится с ЦБ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458D7-7F1D-407E-8C34-3B72AC4D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12420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Внешний кросс-курс сравнивается с официальным. Модель учитывает величину, изменение, аномальность и свежесть расхождения.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7BFE8-262C-404B-9E3C-80ED1F15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415290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74073-AE5B-471F-B61E-868ABD2E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43243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67A12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C67A12"/>
                </a:solidFill>
                <a:latin typeface="Inter"/>
                <a:ea typeface="Inter"/>
                <a:cs typeface="Inter"/>
              </a:rPr>
              <a:t>basis · Δ1 · Δ5 · z-score 20 · age · available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5FB5A-EA68-43E1-9FFD-5930ECAC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1885950"/>
            <a:ext cx="2647950" cy="289560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32A1BC-6DFD-431F-9677-80A596A5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0764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HALYK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94686-7AA1-4C7D-AE23-2DC0EB27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4765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Halyk переоценивает RUB/KZT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AA395-2061-46C7-B2B6-8757AAE5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312420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Банковская цена сопоставляется с курсом ЦБ. Отдельно учитываются разница условий и изменения RUB и USD за 1 и 5 сессий.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9E7D3A-4356-483F-BAC6-8ECA8CDA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415290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9C5583-F532-4945-9BC0-77F1FAC7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43243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basis · personal/legal gap · RUB/USD ret 1/5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EFD16-BCF0-455E-B266-CE9E224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1885950"/>
            <a:ext cx="2647950" cy="2895600"/>
          </a:xfrm>
          <a:prstGeom xmlns:a="http://schemas.openxmlformats.org/drawingml/2006/main" prst="roundRect">
            <a:avLst>
              <a:gd name="adj" fmla="val 6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02C651-108B-4BC4-87CC-EC275402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20764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9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652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7652B8"/>
                </a:solidFill>
                <a:latin typeface="Inter"/>
                <a:ea typeface="Inter"/>
                <a:cs typeface="Inter"/>
              </a:rPr>
              <a:t>TREASURY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0C82D7-CD97-4F57-A1D5-9F078FA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24765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Меняются ожидания по инфляции в США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90D11E-444F-4EC3-85DB-4A650D4D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312420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Рыночные инфляционные ожидания задают глобальный режим доллара и помогают различать одинаковые локальные движения.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36886F-B717-4621-B784-A80E255B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4152900"/>
            <a:ext cx="2305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8583C7-4E9E-41DD-A186-C09B1EA8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43243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652B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7652B8"/>
                </a:solidFill>
                <a:latin typeface="Inter"/>
                <a:ea typeface="Inter"/>
                <a:cs typeface="Inter"/>
              </a:rPr>
              <a:t>T10YIE · T5YIFR · изменения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C96BE1-F53B-4DC2-9DFC-487E3FAC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019675"/>
            <a:ext cx="1394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2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825DC8-7BC7-4538-B787-8A170CD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133975"/>
            <a:ext cx="1394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Задержка публикации, возраст и пропуски входят в данные. Модель не получает будущие значения.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A1CBE5-12DF-4D08-B727-FEB9CFE6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619750"/>
            <a:ext cx="24003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1D9045-849F-439C-A94A-85DDD839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57531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ШАГ 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10372E-D751-440A-9A90-4BA3EEA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6105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Пять источников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976CC8-97A4-4ABE-BCDC-DE06A47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6400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ЦБ, MOEX, OXR, Halyk, Treasury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B15244-86E4-45E1-86E1-C77A299D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5619750"/>
            <a:ext cx="20383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524ED7-CFDE-4AAF-910E-FBBC95CB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57531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ШАГ 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15AF16-AE72-4091-9129-3A5247E0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105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33 признака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335CF2-B75A-4A8F-B6FE-C31BCBC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64008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уровни, изменения, расхождения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C431DB-9CFA-407D-8369-34ACD9D6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5619750"/>
            <a:ext cx="20383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43132B-2EBE-4F55-AEC2-68EF4D37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31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ШАГ 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CAB4CE-2A73-49DD-869C-29281A5E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610552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TabM H3 / H5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766D8E-6374-4A87-A193-678C0297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64008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вероятность события через 3 или 5 сессий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A5DEA1-9880-4F2C-9204-304716CE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619750"/>
            <a:ext cx="2667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57102D-02CE-43A7-AA7B-DCED5A44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57531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3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8A55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F8A55"/>
                </a:solidFill>
                <a:latin typeface="Inter"/>
                <a:ea typeface="Inter"/>
                <a:cs typeface="Inter"/>
              </a:rPr>
              <a:t>ШАГ 04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4752C7-ACC4-47E8-B22C-F5ED4A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610552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Порог и частота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67736B-AFC9-4C7D-A993-2A918490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64008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сравнение с 63 прошлыми оценками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71A4F0-D080-4067-8E11-21A23DD0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5619750"/>
            <a:ext cx="31242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CBCE55-A29D-45E9-A778-80E6E8B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57531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9525" rIns="762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ШАГ 05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3A792F-413D-4444-84FF-66FEAD48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61055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Пуш с фактом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34DFD4-3BE2-4732-8FD1-38DB11D4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64008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или тишина, если прогноз недостаточно силён</a:t>
            </a:r>
          </a:p>
        </p:txBody>
      </p:sp>
      <p:cxnSp>
        <p:nvCxnSpPr>
          <p:cNvPr id="126" name=""/>
          <p:cNvCxnSpPr>
            <a:stCxn xmlns:a="http://schemas.openxmlformats.org/drawingml/2006/main" id="38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048000" y="6191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3124"/>
            </a:solidFill>
            <a:prstDash val="solid"/>
            <a:tailEnd type="triangle" w="sm" len="sm"/>
          </a:ln>
        </p:spPr>
      </p:cxn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5505450" y="6191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3124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46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962900" y="6191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3124"/>
            </a:solidFill>
            <a:prstDash val="soli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50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11049000" y="61912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F3124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258F7E-589A-4B2B-BB82-CD60976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6953250"/>
            <a:ext cx="139446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272950-C5D5-47B3-81F4-548D10C5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7124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Что увидит клиент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D1932E-471B-4DD9-8D84-3E74D3B8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4625" y="7077075"/>
            <a:ext cx="11572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5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B1F35"/>
                </a:solidFill>
                <a:latin typeface="Inter"/>
                <a:ea typeface="Inter"/>
                <a:cs typeface="Inter"/>
              </a:rPr>
              <a:t>Проверяемый факт о положении курса в историческом диапазоне. Для части H3-сигналов CLOSING добавляет: «окно может закрыться».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BF8F44-7490-411A-9F28-F481C396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058150"/>
            <a:ext cx="1394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F312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857B27-323F-47D8-905E-FE370D43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0" y="8010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3124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7BEC47-4E9A-4EC9-975A-2D3E9DA2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191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F3124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EF3124"/>
                </a:solidFill>
                <a:latin typeface="Inter"/>
                <a:ea typeface="Inter"/>
                <a:cs typeface="Inter"/>
              </a:rPr>
              <a:t>AlphaTransfer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08EC2D-2470-4EC3-B624-CEF5E7A4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0" y="81915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C7F8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7C7F88"/>
                </a:solidFill>
                <a:latin typeface="Inter"/>
                <a:ea typeface="Inter"/>
                <a:cs typeface="Inter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748511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2026-09-06T17:02:34.2440000Z</dcterms:created>
  <dcterms:modified xsi:type="dcterms:W3CDTF">2026-09-06T17:02:34.2440000Z</dcterms:modified>
</coreProperties>
</file>